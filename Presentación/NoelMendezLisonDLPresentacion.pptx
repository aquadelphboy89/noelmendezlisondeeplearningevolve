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7"/>
  </p:notesMasterIdLst>
  <p:sldIdLst>
    <p:sldId id="256" r:id="rId2"/>
    <p:sldId id="257" r:id="rId3"/>
    <p:sldId id="258" r:id="rId4"/>
    <p:sldId id="259" r:id="rId5"/>
    <p:sldId id="260" r:id="rId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03C917-0277-421F-AAA3-AAD2DB3E90CE}" v="86" dt="2026-06-21T19:17:17.1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d147a6bd4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d147a6bd4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d147a6bd48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d147a6bd48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d147a6bd48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d147a6bd4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d147a6bd48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d147a6bd48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994799"/>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Análisis de reseñas en Trust Pilot </a:t>
            </a:r>
            <a:endParaRPr/>
          </a:p>
        </p:txBody>
      </p:sp>
      <p:sp>
        <p:nvSpPr>
          <p:cNvPr id="2" name="CuadroTexto 1">
            <a:extLst>
              <a:ext uri="{FF2B5EF4-FFF2-40B4-BE49-F238E27FC236}">
                <a16:creationId xmlns:a16="http://schemas.microsoft.com/office/drawing/2014/main" id="{5BB1F055-D2EF-3A26-7DAC-9C1A47F69869}"/>
              </a:ext>
            </a:extLst>
          </p:cNvPr>
          <p:cNvSpPr txBox="1"/>
          <p:nvPr/>
        </p:nvSpPr>
        <p:spPr>
          <a:xfrm>
            <a:off x="2373155" y="3286714"/>
            <a:ext cx="4651804" cy="14070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s-ES"/>
          </a:p>
        </p:txBody>
      </p:sp>
      <p:sp>
        <p:nvSpPr>
          <p:cNvPr id="4" name="CuadroTexto 3">
            <a:extLst>
              <a:ext uri="{FF2B5EF4-FFF2-40B4-BE49-F238E27FC236}">
                <a16:creationId xmlns:a16="http://schemas.microsoft.com/office/drawing/2014/main" id="{4701A064-33BC-3AD8-4EBA-7EEA9050F5C4}"/>
              </a:ext>
            </a:extLst>
          </p:cNvPr>
          <p:cNvSpPr txBox="1"/>
          <p:nvPr/>
        </p:nvSpPr>
        <p:spPr>
          <a:xfrm>
            <a:off x="3069221" y="3512814"/>
            <a:ext cx="2463863"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a:solidFill>
                  <a:srgbClr val="002060"/>
                </a:solidFill>
              </a:rPr>
              <a:t>Noel Méndez Lison</a:t>
            </a:r>
            <a:endParaRPr lang="es-ES"/>
          </a:p>
          <a:p>
            <a:r>
              <a:rPr lang="es-ES">
                <a:solidFill>
                  <a:srgbClr val="002060"/>
                </a:solidFill>
              </a:rPr>
              <a:t>21/06/2026</a:t>
            </a:r>
            <a:endParaRPr lang="es-ES"/>
          </a:p>
          <a:p>
            <a:r>
              <a:rPr lang="es-ES">
                <a:solidFill>
                  <a:srgbClr val="002060"/>
                </a:solidFill>
              </a:rPr>
              <a:t>Deep </a:t>
            </a:r>
            <a:r>
              <a:rPr lang="es-ES" err="1">
                <a:solidFill>
                  <a:srgbClr val="002060"/>
                </a:solidFill>
              </a:rPr>
              <a:t>learning</a:t>
            </a:r>
            <a:br>
              <a:rPr lang="es-ES">
                <a:solidFill>
                  <a:srgbClr val="002060"/>
                </a:solidFill>
              </a:rPr>
            </a:br>
            <a:r>
              <a:rPr lang="es-ES" err="1">
                <a:solidFill>
                  <a:srgbClr val="002060"/>
                </a:solidFill>
              </a:rPr>
              <a:t>Evolve</a:t>
            </a:r>
            <a:endParaRPr lang="es-ES" err="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Objetivos</a:t>
            </a:r>
            <a:endParaRPr/>
          </a:p>
        </p:txBody>
      </p:sp>
      <p:sp>
        <p:nvSpPr>
          <p:cNvPr id="60" name="Google Shape;60;p14"/>
          <p:cNvSpPr txBox="1">
            <a:spLocks noGrp="1"/>
          </p:cNvSpPr>
          <p:nvPr>
            <p:ph type="body" idx="1"/>
          </p:nvPr>
        </p:nvSpPr>
        <p:spPr>
          <a:xfrm>
            <a:off x="2317350" y="1152475"/>
            <a:ext cx="6515100" cy="9330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fontScale="55000" lnSpcReduction="20000"/>
          </a:bodyPr>
          <a:lstStyle/>
          <a:p>
            <a:pPr marL="0" indent="0">
              <a:lnSpc>
                <a:spcPct val="114999"/>
              </a:lnSpc>
              <a:spcAft>
                <a:spcPts val="1200"/>
              </a:spcAft>
              <a:buNone/>
            </a:pPr>
            <a:r>
              <a:rPr lang="en" sz="1200" err="1"/>
              <a:t>Atendiendo</a:t>
            </a:r>
            <a:r>
              <a:rPr lang="en" sz="1200"/>
              <a:t> a la </a:t>
            </a:r>
            <a:r>
              <a:rPr lang="en" sz="1200" err="1"/>
              <a:t>solicitud</a:t>
            </a:r>
            <a:r>
              <a:rPr lang="en" sz="1200"/>
              <a:t> de la </a:t>
            </a:r>
            <a:r>
              <a:rPr lang="en" sz="1200" err="1"/>
              <a:t>Dirección</a:t>
            </a:r>
            <a:r>
              <a:rPr lang="en" sz="1200"/>
              <a:t> de CX para </a:t>
            </a:r>
            <a:r>
              <a:rPr lang="en" sz="1200" err="1"/>
              <a:t>identificar</a:t>
            </a:r>
            <a:r>
              <a:rPr lang="en" sz="1200"/>
              <a:t> </a:t>
            </a:r>
            <a:r>
              <a:rPr lang="en" sz="1200" err="1"/>
              <a:t>oportunidades</a:t>
            </a:r>
            <a:r>
              <a:rPr lang="en" sz="1200"/>
              <a:t> </a:t>
            </a:r>
            <a:r>
              <a:rPr lang="en" sz="1200" err="1"/>
              <a:t>críticas</a:t>
            </a:r>
            <a:r>
              <a:rPr lang="en" sz="1200"/>
              <a:t> de </a:t>
            </a:r>
            <a:r>
              <a:rPr lang="en" sz="1200" err="1"/>
              <a:t>mejora</a:t>
            </a:r>
            <a:r>
              <a:rPr lang="en" sz="1200"/>
              <a:t>, </a:t>
            </a:r>
            <a:r>
              <a:rPr lang="en" sz="1200" err="1"/>
              <a:t>este</a:t>
            </a:r>
            <a:r>
              <a:rPr lang="en" sz="1200"/>
              <a:t> </a:t>
            </a:r>
            <a:r>
              <a:rPr lang="en" sz="1200" err="1"/>
              <a:t>informe</a:t>
            </a:r>
            <a:r>
              <a:rPr lang="en" sz="1200"/>
              <a:t> </a:t>
            </a:r>
            <a:r>
              <a:rPr lang="en" sz="1200" err="1"/>
              <a:t>tiene</a:t>
            </a:r>
            <a:r>
              <a:rPr lang="en" sz="1200"/>
              <a:t> </a:t>
            </a:r>
            <a:r>
              <a:rPr lang="en" sz="1200" err="1"/>
              <a:t>como</a:t>
            </a:r>
            <a:r>
              <a:rPr lang="en" sz="1200"/>
              <a:t> </a:t>
            </a:r>
            <a:r>
              <a:rPr lang="en" sz="1200" err="1"/>
              <a:t>objetivo</a:t>
            </a:r>
            <a:r>
              <a:rPr lang="en" sz="1200"/>
              <a:t> principal </a:t>
            </a:r>
            <a:r>
              <a:rPr lang="en" sz="1200" err="1"/>
              <a:t>determinar</a:t>
            </a:r>
            <a:r>
              <a:rPr lang="en" sz="1200"/>
              <a:t> el </a:t>
            </a:r>
            <a:r>
              <a:rPr lang="en" sz="1200" err="1"/>
              <a:t>sentimiento</a:t>
            </a:r>
            <a:r>
              <a:rPr lang="en" sz="1200"/>
              <a:t> real de </a:t>
            </a:r>
            <a:r>
              <a:rPr lang="en" sz="1200" err="1"/>
              <a:t>los</a:t>
            </a:r>
            <a:r>
              <a:rPr lang="en" sz="1200"/>
              <a:t> </a:t>
            </a:r>
            <a:r>
              <a:rPr lang="en" sz="1200" err="1"/>
              <a:t>clientes</a:t>
            </a:r>
            <a:r>
              <a:rPr lang="en" sz="1200"/>
              <a:t> y </a:t>
            </a:r>
            <a:r>
              <a:rPr lang="en" sz="1200" err="1"/>
              <a:t>descubrir</a:t>
            </a:r>
            <a:r>
              <a:rPr lang="en" sz="1200"/>
              <a:t> </a:t>
            </a:r>
            <a:r>
              <a:rPr lang="en" sz="1200" err="1"/>
              <a:t>qué</a:t>
            </a:r>
            <a:r>
              <a:rPr lang="en" sz="1200"/>
              <a:t> </a:t>
            </a:r>
            <a:r>
              <a:rPr lang="en" sz="1200" err="1"/>
              <a:t>temáticas</a:t>
            </a:r>
            <a:r>
              <a:rPr lang="en" sz="1200"/>
              <a:t> </a:t>
            </a:r>
            <a:r>
              <a:rPr lang="en" sz="1200" err="1"/>
              <a:t>causan</a:t>
            </a:r>
            <a:r>
              <a:rPr lang="en" sz="1200"/>
              <a:t> mayor </a:t>
            </a:r>
            <a:r>
              <a:rPr lang="en" sz="1200" err="1"/>
              <a:t>impacto</a:t>
            </a:r>
            <a:r>
              <a:rPr lang="en" sz="1200"/>
              <a:t> </a:t>
            </a:r>
            <a:r>
              <a:rPr lang="en" sz="1200" err="1"/>
              <a:t>negativo</a:t>
            </a:r>
            <a:r>
              <a:rPr lang="en" sz="1200"/>
              <a:t> </a:t>
            </a:r>
            <a:r>
              <a:rPr lang="en" sz="1200" err="1"/>
              <a:t>en</a:t>
            </a:r>
            <a:r>
              <a:rPr lang="en" sz="1200"/>
              <a:t> </a:t>
            </a:r>
            <a:r>
              <a:rPr lang="en" sz="1200" err="1"/>
              <a:t>comparación</a:t>
            </a:r>
            <a:r>
              <a:rPr lang="en" sz="1200"/>
              <a:t> con la </a:t>
            </a:r>
            <a:r>
              <a:rPr lang="en" sz="1200" err="1"/>
              <a:t>competencia</a:t>
            </a:r>
            <a:r>
              <a:rPr lang="en" sz="1200"/>
              <a:t> del sector de </a:t>
            </a:r>
            <a:r>
              <a:rPr lang="en" sz="1200" err="1"/>
              <a:t>restauración</a:t>
            </a:r>
            <a:r>
              <a:rPr lang="en" sz="1200"/>
              <a:t>. Para </a:t>
            </a:r>
            <a:r>
              <a:rPr lang="en" sz="1200" err="1"/>
              <a:t>ello</a:t>
            </a:r>
            <a:r>
              <a:rPr lang="en" sz="1200"/>
              <a:t>, a </a:t>
            </a:r>
            <a:r>
              <a:rPr lang="en" sz="1200" err="1"/>
              <a:t>nivel</a:t>
            </a:r>
            <a:r>
              <a:rPr lang="en" sz="1200"/>
              <a:t> </a:t>
            </a:r>
            <a:r>
              <a:rPr lang="en" sz="1200" err="1"/>
              <a:t>metodológico</a:t>
            </a:r>
            <a:r>
              <a:rPr lang="en" sz="1200"/>
              <a:t> </a:t>
            </a:r>
            <a:r>
              <a:rPr lang="en" sz="1200" err="1"/>
              <a:t>implementamos</a:t>
            </a:r>
            <a:r>
              <a:rPr lang="en" sz="1200"/>
              <a:t> un </a:t>
            </a:r>
            <a:r>
              <a:rPr lang="en" sz="1200" err="1"/>
              <a:t>modelo</a:t>
            </a:r>
            <a:r>
              <a:rPr lang="en" sz="1200"/>
              <a:t> de Deep Learning </a:t>
            </a:r>
            <a:r>
              <a:rPr lang="en" sz="1200" err="1"/>
              <a:t>basado</a:t>
            </a:r>
            <a:r>
              <a:rPr lang="en" sz="1200"/>
              <a:t> </a:t>
            </a:r>
            <a:r>
              <a:rPr lang="en" sz="1200" err="1"/>
              <a:t>en</a:t>
            </a:r>
            <a:r>
              <a:rPr lang="en" sz="1200"/>
              <a:t> Transformers para </a:t>
            </a:r>
            <a:r>
              <a:rPr lang="en" sz="1200" err="1"/>
              <a:t>predecir</a:t>
            </a:r>
            <a:r>
              <a:rPr lang="en" sz="1200"/>
              <a:t> el </a:t>
            </a:r>
            <a:r>
              <a:rPr lang="en" sz="1200" err="1"/>
              <a:t>sentimiento</a:t>
            </a:r>
            <a:r>
              <a:rPr lang="en" sz="1200"/>
              <a:t> y </a:t>
            </a:r>
            <a:r>
              <a:rPr lang="en" sz="1200" err="1"/>
              <a:t>realizamos</a:t>
            </a:r>
            <a:r>
              <a:rPr lang="en" sz="1200"/>
              <a:t> un </a:t>
            </a:r>
            <a:r>
              <a:rPr lang="en" sz="1200" err="1"/>
              <a:t>estudio</a:t>
            </a:r>
            <a:r>
              <a:rPr lang="en" sz="1200"/>
              <a:t> </a:t>
            </a:r>
            <a:r>
              <a:rPr lang="en" sz="1200" err="1"/>
              <a:t>comparativo</a:t>
            </a:r>
            <a:r>
              <a:rPr lang="en" sz="1200"/>
              <a:t> de </a:t>
            </a:r>
            <a:r>
              <a:rPr lang="en" sz="1200" err="1"/>
              <a:t>modelado</a:t>
            </a:r>
            <a:r>
              <a:rPr lang="en" sz="1200"/>
              <a:t> de </a:t>
            </a:r>
            <a:r>
              <a:rPr lang="en" sz="1200" err="1"/>
              <a:t>temas</a:t>
            </a:r>
            <a:r>
              <a:rPr lang="en" sz="1200"/>
              <a:t> </a:t>
            </a:r>
            <a:r>
              <a:rPr lang="en" sz="1200" err="1"/>
              <a:t>evaluando</a:t>
            </a:r>
            <a:r>
              <a:rPr lang="en" sz="1200"/>
              <a:t> dos </a:t>
            </a:r>
            <a:r>
              <a:rPr lang="en" sz="1200" err="1"/>
              <a:t>enfoques</a:t>
            </a:r>
            <a:r>
              <a:rPr lang="en" sz="1200"/>
              <a:t> </a:t>
            </a:r>
            <a:r>
              <a:rPr lang="en" sz="1200" err="1"/>
              <a:t>algorítmicos</a:t>
            </a:r>
            <a:r>
              <a:rPr lang="en" sz="1200"/>
              <a:t> </a:t>
            </a:r>
            <a:r>
              <a:rPr lang="en" sz="1200" err="1"/>
              <a:t>diferentes</a:t>
            </a:r>
            <a:r>
              <a:rPr lang="en" sz="1200"/>
              <a:t>: un </a:t>
            </a:r>
            <a:r>
              <a:rPr lang="en" sz="1200" err="1"/>
              <a:t>modelo</a:t>
            </a:r>
            <a:r>
              <a:rPr lang="en" sz="1200"/>
              <a:t> </a:t>
            </a:r>
            <a:r>
              <a:rPr lang="en" sz="1200" err="1"/>
              <a:t>estadístico</a:t>
            </a:r>
            <a:r>
              <a:rPr lang="en" sz="1200"/>
              <a:t> </a:t>
            </a:r>
            <a:r>
              <a:rPr lang="en" sz="1200" err="1"/>
              <a:t>tradicional</a:t>
            </a:r>
            <a:r>
              <a:rPr lang="en" sz="1200"/>
              <a:t> (NMF) </a:t>
            </a:r>
            <a:r>
              <a:rPr lang="en" sz="1200" err="1"/>
              <a:t>frente</a:t>
            </a:r>
            <a:r>
              <a:rPr lang="en" sz="1200"/>
              <a:t> al Estado del Arte </a:t>
            </a:r>
            <a:r>
              <a:rPr lang="en" sz="1200" err="1"/>
              <a:t>en</a:t>
            </a:r>
            <a:r>
              <a:rPr lang="en" sz="1200"/>
              <a:t> redes </a:t>
            </a:r>
            <a:r>
              <a:rPr lang="en" sz="1200" err="1"/>
              <a:t>neuronales</a:t>
            </a:r>
            <a:r>
              <a:rPr lang="en" sz="1200"/>
              <a:t> (</a:t>
            </a:r>
            <a:r>
              <a:rPr lang="en" sz="1200" err="1"/>
              <a:t>BERTopic</a:t>
            </a:r>
            <a:r>
              <a:rPr lang="en" sz="1200"/>
              <a:t>), </a:t>
            </a:r>
            <a:r>
              <a:rPr lang="en" sz="1200" err="1"/>
              <a:t>optimizando</a:t>
            </a:r>
            <a:r>
              <a:rPr lang="en" sz="1200"/>
              <a:t> </a:t>
            </a:r>
            <a:r>
              <a:rPr lang="en" sz="1200" err="1"/>
              <a:t>así</a:t>
            </a:r>
            <a:r>
              <a:rPr lang="en" sz="1200"/>
              <a:t> </a:t>
            </a:r>
            <a:r>
              <a:rPr lang="en" sz="1200" err="1"/>
              <a:t>nuestra</a:t>
            </a:r>
            <a:r>
              <a:rPr lang="en" sz="1200"/>
              <a:t> </a:t>
            </a:r>
            <a:r>
              <a:rPr lang="en" sz="1200" err="1"/>
              <a:t>toma</a:t>
            </a:r>
            <a:r>
              <a:rPr lang="en" sz="1200"/>
              <a:t> de </a:t>
            </a:r>
            <a:r>
              <a:rPr lang="en" sz="1200" err="1"/>
              <a:t>decisiones</a:t>
            </a:r>
            <a:r>
              <a:rPr lang="en" sz="1200"/>
              <a:t> </a:t>
            </a:r>
            <a:r>
              <a:rPr lang="en" sz="1200" err="1"/>
              <a:t>estratégicas</a:t>
            </a:r>
            <a:r>
              <a:rPr lang="en" sz="1200"/>
              <a:t>.</a:t>
            </a:r>
            <a:endParaRPr lang="es-ES"/>
          </a:p>
        </p:txBody>
      </p:sp>
      <p:sp>
        <p:nvSpPr>
          <p:cNvPr id="61" name="Google Shape;61;p14"/>
          <p:cNvSpPr/>
          <p:nvPr/>
        </p:nvSpPr>
        <p:spPr>
          <a:xfrm>
            <a:off x="387850" y="1152500"/>
            <a:ext cx="1835100" cy="9330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Objetivos</a:t>
            </a:r>
            <a:endParaRPr>
              <a:solidFill>
                <a:schemeClr val="lt1"/>
              </a:solidFill>
            </a:endParaRPr>
          </a:p>
        </p:txBody>
      </p:sp>
      <p:sp>
        <p:nvSpPr>
          <p:cNvPr id="62" name="Google Shape;62;p14"/>
          <p:cNvSpPr/>
          <p:nvPr/>
        </p:nvSpPr>
        <p:spPr>
          <a:xfrm>
            <a:off x="387850" y="2221250"/>
            <a:ext cx="1835100" cy="23475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Asunciones</a:t>
            </a:r>
            <a:endParaRPr>
              <a:solidFill>
                <a:schemeClr val="lt1"/>
              </a:solidFill>
            </a:endParaRPr>
          </a:p>
        </p:txBody>
      </p:sp>
      <p:sp>
        <p:nvSpPr>
          <p:cNvPr id="63" name="Google Shape;63;p14"/>
          <p:cNvSpPr txBox="1">
            <a:spLocks noGrp="1"/>
          </p:cNvSpPr>
          <p:nvPr>
            <p:ph type="body" idx="1"/>
          </p:nvPr>
        </p:nvSpPr>
        <p:spPr>
          <a:xfrm>
            <a:off x="2317350" y="2220225"/>
            <a:ext cx="6515100" cy="23475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a:bodyPr>
          <a:lstStyle/>
          <a:p>
            <a:pPr marL="0" indent="0">
              <a:lnSpc>
                <a:spcPct val="114999"/>
              </a:lnSpc>
              <a:spcAft>
                <a:spcPts val="1200"/>
              </a:spcAft>
              <a:buNone/>
            </a:pPr>
            <a:r>
              <a:rPr lang="en" sz="1200"/>
              <a:t>Para </a:t>
            </a:r>
            <a:r>
              <a:rPr lang="en" sz="1200" err="1"/>
              <a:t>este</a:t>
            </a:r>
            <a:r>
              <a:rPr lang="en" sz="1200"/>
              <a:t> </a:t>
            </a:r>
            <a:r>
              <a:rPr lang="en" sz="1200" err="1"/>
              <a:t>estudio</a:t>
            </a:r>
            <a:r>
              <a:rPr lang="en" sz="1200"/>
              <a:t> se </a:t>
            </a:r>
            <a:r>
              <a:rPr lang="en" sz="1200" err="1"/>
              <a:t>han</a:t>
            </a:r>
            <a:r>
              <a:rPr lang="en" sz="1200"/>
              <a:t> </a:t>
            </a:r>
            <a:r>
              <a:rPr lang="en" sz="1200" err="1"/>
              <a:t>filtrado</a:t>
            </a:r>
            <a:r>
              <a:rPr lang="en" sz="1200"/>
              <a:t> </a:t>
            </a:r>
            <a:r>
              <a:rPr lang="en" sz="1200" err="1"/>
              <a:t>exactamente</a:t>
            </a:r>
            <a:r>
              <a:rPr lang="en" sz="1200"/>
              <a:t> 100 </a:t>
            </a:r>
            <a:r>
              <a:rPr lang="en" sz="1200" err="1"/>
              <a:t>reseñas</a:t>
            </a:r>
            <a:r>
              <a:rPr lang="en" sz="1200"/>
              <a:t> de </a:t>
            </a:r>
            <a:r>
              <a:rPr lang="en" sz="1200" err="1"/>
              <a:t>nuestra</a:t>
            </a:r>
            <a:r>
              <a:rPr lang="en" sz="1200"/>
              <a:t> </a:t>
            </a:r>
            <a:r>
              <a:rPr lang="en" sz="1200" err="1"/>
              <a:t>compañía</a:t>
            </a:r>
            <a:r>
              <a:rPr lang="en" sz="1200"/>
              <a:t> </a:t>
            </a:r>
            <a:r>
              <a:rPr lang="en" sz="1200" err="1"/>
              <a:t>frente</a:t>
            </a:r>
            <a:r>
              <a:rPr lang="en" sz="1200"/>
              <a:t> a </a:t>
            </a:r>
            <a:r>
              <a:rPr lang="en" sz="1200" err="1"/>
              <a:t>una</a:t>
            </a:r>
            <a:r>
              <a:rPr lang="en" sz="1200"/>
              <a:t> base de </a:t>
            </a:r>
            <a:r>
              <a:rPr lang="en" sz="1200" err="1"/>
              <a:t>datos</a:t>
            </a:r>
            <a:r>
              <a:rPr lang="en" sz="1200"/>
              <a:t> de </a:t>
            </a:r>
            <a:r>
              <a:rPr lang="en" sz="1200" err="1"/>
              <a:t>más</a:t>
            </a:r>
            <a:r>
              <a:rPr lang="en" sz="1200"/>
              <a:t> de 5.000 </a:t>
            </a:r>
            <a:r>
              <a:rPr lang="en" sz="1200" err="1"/>
              <a:t>reseñas</a:t>
            </a:r>
            <a:r>
              <a:rPr lang="en" sz="1200"/>
              <a:t> de la </a:t>
            </a:r>
            <a:r>
              <a:rPr lang="en" sz="1200" err="1"/>
              <a:t>competencia</a:t>
            </a:r>
            <a:r>
              <a:rPr lang="en" sz="1200"/>
              <a:t> </a:t>
            </a:r>
            <a:r>
              <a:rPr lang="en" sz="1200" err="1"/>
              <a:t>directa</a:t>
            </a:r>
            <a:r>
              <a:rPr lang="en" sz="1200"/>
              <a:t> </a:t>
            </a:r>
            <a:r>
              <a:rPr lang="en" sz="1200" err="1"/>
              <a:t>en</a:t>
            </a:r>
            <a:r>
              <a:rPr lang="en" sz="1200"/>
              <a:t> el sector. Como </a:t>
            </a:r>
            <a:r>
              <a:rPr lang="en" sz="1200" err="1"/>
              <a:t>criterios</a:t>
            </a:r>
            <a:r>
              <a:rPr lang="en" sz="1200"/>
              <a:t> de </a:t>
            </a:r>
            <a:r>
              <a:rPr lang="en" sz="1200" err="1"/>
              <a:t>calidad</a:t>
            </a:r>
            <a:r>
              <a:rPr lang="en" sz="1200"/>
              <a:t> y </a:t>
            </a:r>
            <a:r>
              <a:rPr lang="en" sz="1200" err="1"/>
              <a:t>preparación</a:t>
            </a:r>
            <a:r>
              <a:rPr lang="en" sz="1200"/>
              <a:t> de </a:t>
            </a:r>
            <a:r>
              <a:rPr lang="en" sz="1200" err="1"/>
              <a:t>datos</a:t>
            </a:r>
            <a:r>
              <a:rPr lang="en" sz="1200"/>
              <a:t>, se </a:t>
            </a:r>
            <a:r>
              <a:rPr lang="en" sz="1200" err="1"/>
              <a:t>realizó</a:t>
            </a:r>
            <a:r>
              <a:rPr lang="en" sz="1200"/>
              <a:t> un control y </a:t>
            </a:r>
            <a:r>
              <a:rPr lang="en" sz="1200" err="1"/>
              <a:t>eliminación</a:t>
            </a:r>
            <a:r>
              <a:rPr lang="en" sz="1200"/>
              <a:t> </a:t>
            </a:r>
            <a:r>
              <a:rPr lang="en" sz="1200" err="1"/>
              <a:t>estricta</a:t>
            </a:r>
            <a:r>
              <a:rPr lang="en" sz="1200"/>
              <a:t> de </a:t>
            </a:r>
            <a:r>
              <a:rPr lang="en" sz="1200" err="1"/>
              <a:t>registros</a:t>
            </a:r>
            <a:r>
              <a:rPr lang="en" sz="1200"/>
              <a:t> </a:t>
            </a:r>
            <a:r>
              <a:rPr lang="en" sz="1200" err="1"/>
              <a:t>nulos</a:t>
            </a:r>
            <a:r>
              <a:rPr lang="en" sz="1200"/>
              <a:t> </a:t>
            </a:r>
            <a:r>
              <a:rPr lang="en" sz="1200" err="1"/>
              <a:t>en</a:t>
            </a:r>
            <a:r>
              <a:rPr lang="en" sz="1200"/>
              <a:t> el campo de </a:t>
            </a:r>
            <a:r>
              <a:rPr lang="en" sz="1200" err="1"/>
              <a:t>texto</a:t>
            </a:r>
            <a:r>
              <a:rPr lang="en" sz="1200"/>
              <a:t>. </a:t>
            </a:r>
            <a:r>
              <a:rPr lang="en" sz="1200" err="1"/>
              <a:t>Prescindimos</a:t>
            </a:r>
            <a:r>
              <a:rPr lang="en" sz="1200"/>
              <a:t> del </a:t>
            </a:r>
            <a:r>
              <a:rPr lang="en" sz="1200" err="1"/>
              <a:t>sistema</a:t>
            </a:r>
            <a:r>
              <a:rPr lang="en" sz="1200"/>
              <a:t> de </a:t>
            </a:r>
            <a:r>
              <a:rPr lang="en" sz="1200" err="1"/>
              <a:t>estrellas</a:t>
            </a:r>
            <a:r>
              <a:rPr lang="en" sz="1200"/>
              <a:t> </a:t>
            </a:r>
            <a:r>
              <a:rPr lang="en" sz="1200" err="1"/>
              <a:t>por</a:t>
            </a:r>
            <a:r>
              <a:rPr lang="en" sz="1200"/>
              <a:t> </a:t>
            </a:r>
            <a:r>
              <a:rPr lang="en" sz="1200" err="1"/>
              <a:t>considerarlo</a:t>
            </a:r>
            <a:r>
              <a:rPr lang="en" sz="1200"/>
              <a:t> </a:t>
            </a:r>
            <a:r>
              <a:rPr lang="en" sz="1200" err="1"/>
              <a:t>sesgado</a:t>
            </a:r>
            <a:r>
              <a:rPr lang="en" sz="1200"/>
              <a:t> y, </a:t>
            </a:r>
            <a:r>
              <a:rPr lang="en" sz="1200" err="1"/>
              <a:t>en</a:t>
            </a:r>
            <a:r>
              <a:rPr lang="en" sz="1200"/>
              <a:t> </a:t>
            </a:r>
            <a:r>
              <a:rPr lang="en" sz="1200" err="1"/>
              <a:t>su</a:t>
            </a:r>
            <a:r>
              <a:rPr lang="en" sz="1200"/>
              <a:t> </a:t>
            </a:r>
            <a:r>
              <a:rPr lang="en" sz="1200" err="1"/>
              <a:t>lugar</a:t>
            </a:r>
            <a:r>
              <a:rPr lang="en" sz="1200"/>
              <a:t>, </a:t>
            </a:r>
            <a:r>
              <a:rPr lang="en" sz="1200" err="1"/>
              <a:t>aplicamos</a:t>
            </a:r>
            <a:r>
              <a:rPr lang="en" sz="1200"/>
              <a:t> </a:t>
            </a:r>
            <a:r>
              <a:rPr lang="en" sz="1200" err="1"/>
              <a:t>una</a:t>
            </a:r>
            <a:r>
              <a:rPr lang="en" sz="1200"/>
              <a:t> </a:t>
            </a:r>
            <a:r>
              <a:rPr lang="en" sz="1200" err="1"/>
              <a:t>limpieza</a:t>
            </a:r>
            <a:r>
              <a:rPr lang="en" sz="1200"/>
              <a:t> </a:t>
            </a:r>
            <a:r>
              <a:rPr lang="en" sz="1200" err="1"/>
              <a:t>que</a:t>
            </a:r>
            <a:r>
              <a:rPr lang="en" sz="1200"/>
              <a:t> </a:t>
            </a:r>
            <a:r>
              <a:rPr lang="en" sz="1200" err="1"/>
              <a:t>eliminó</a:t>
            </a:r>
            <a:r>
              <a:rPr lang="en" sz="1200"/>
              <a:t> </a:t>
            </a:r>
            <a:r>
              <a:rPr lang="en" sz="1200" err="1"/>
              <a:t>por</a:t>
            </a:r>
            <a:r>
              <a:rPr lang="en" sz="1200"/>
              <a:t> </a:t>
            </a:r>
            <a:r>
              <a:rPr lang="en" sz="1200" err="1"/>
              <a:t>completo</a:t>
            </a:r>
            <a:r>
              <a:rPr lang="en" sz="1200"/>
              <a:t> </a:t>
            </a:r>
            <a:r>
              <a:rPr lang="en" sz="1200" err="1"/>
              <a:t>ruido</a:t>
            </a:r>
            <a:r>
              <a:rPr lang="en" sz="1200"/>
              <a:t> textual </a:t>
            </a:r>
            <a:r>
              <a:rPr lang="en" sz="1200" err="1"/>
              <a:t>como</a:t>
            </a:r>
            <a:r>
              <a:rPr lang="en" sz="1200"/>
              <a:t> URLs, </a:t>
            </a:r>
            <a:r>
              <a:rPr lang="en" sz="1200" err="1"/>
              <a:t>menciones</a:t>
            </a:r>
            <a:r>
              <a:rPr lang="en" sz="1200"/>
              <a:t>, hashtags y </a:t>
            </a:r>
            <a:r>
              <a:rPr lang="en" sz="1200" err="1"/>
              <a:t>caracteres</a:t>
            </a:r>
            <a:r>
              <a:rPr lang="en" sz="1200"/>
              <a:t> </a:t>
            </a:r>
            <a:r>
              <a:rPr lang="en" sz="1200" err="1"/>
              <a:t>numéricos</a:t>
            </a:r>
            <a:r>
              <a:rPr lang="en" sz="1200"/>
              <a:t> para </a:t>
            </a:r>
            <a:r>
              <a:rPr lang="en" sz="1200" err="1"/>
              <a:t>asegurar</a:t>
            </a:r>
            <a:r>
              <a:rPr lang="en" sz="1200"/>
              <a:t> </a:t>
            </a:r>
            <a:r>
              <a:rPr lang="en" sz="1200" err="1"/>
              <a:t>que</a:t>
            </a:r>
            <a:r>
              <a:rPr lang="en" sz="1200"/>
              <a:t> </a:t>
            </a:r>
            <a:r>
              <a:rPr lang="en" sz="1200" err="1"/>
              <a:t>los</a:t>
            </a:r>
            <a:r>
              <a:rPr lang="en" sz="1200"/>
              <a:t> </a:t>
            </a:r>
            <a:r>
              <a:rPr lang="en" sz="1200" err="1"/>
              <a:t>modelos</a:t>
            </a:r>
            <a:r>
              <a:rPr lang="en" sz="1200"/>
              <a:t> </a:t>
            </a:r>
            <a:r>
              <a:rPr lang="en" sz="1200" err="1"/>
              <a:t>capturen</a:t>
            </a:r>
            <a:r>
              <a:rPr lang="en" sz="1200"/>
              <a:t> la </a:t>
            </a:r>
            <a:r>
              <a:rPr lang="en" sz="1200" err="1"/>
              <a:t>intención</a:t>
            </a:r>
            <a:r>
              <a:rPr lang="en" sz="1200"/>
              <a:t> </a:t>
            </a:r>
            <a:r>
              <a:rPr lang="en" sz="1200" err="1"/>
              <a:t>semántica</a:t>
            </a:r>
            <a:r>
              <a:rPr lang="en" sz="1200"/>
              <a:t> real del </a:t>
            </a:r>
            <a:r>
              <a:rPr lang="en" sz="1200" err="1"/>
              <a:t>consumidor</a:t>
            </a:r>
            <a:r>
              <a:rPr lang="en" sz="1200"/>
              <a:t>.</a:t>
            </a:r>
            <a:endParaRPr lang="es-E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Análisis sentimiento</a:t>
            </a:r>
            <a:endParaRPr/>
          </a:p>
        </p:txBody>
      </p:sp>
      <p:sp>
        <p:nvSpPr>
          <p:cNvPr id="3" name="CuadroTexto 2">
            <a:extLst>
              <a:ext uri="{FF2B5EF4-FFF2-40B4-BE49-F238E27FC236}">
                <a16:creationId xmlns:a16="http://schemas.microsoft.com/office/drawing/2014/main" id="{47CF0C00-B970-1E2A-92F4-F1D9576E299A}"/>
              </a:ext>
            </a:extLst>
          </p:cNvPr>
          <p:cNvSpPr txBox="1"/>
          <p:nvPr/>
        </p:nvSpPr>
        <p:spPr>
          <a:xfrm>
            <a:off x="448295" y="2715672"/>
            <a:ext cx="5922387"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a:t>Nuestros modelos detectan que un 69% de las reseñas de </a:t>
            </a:r>
            <a:r>
              <a:rPr lang="es-ES" err="1"/>
              <a:t>Mindful</a:t>
            </a:r>
            <a:r>
              <a:rPr lang="es-ES"/>
              <a:t> Chef presentan una carga negativa, una cifra superior a la media de nuestros competidores más cercanos. Sin embargo, la auditoría cualitativa de los textos demuestra la precisión del modelo predictivo supervisado: no se trata de detractores destructivos, sino de clientes con un alto nivel de involucración que aportan críticas constructivas muy detalladas. Por otro lado, el 31% de sentimiento positivo se concentra con solidez en la calidad gastronómica y frescura del producto.</a:t>
            </a:r>
          </a:p>
        </p:txBody>
      </p:sp>
      <p:pic>
        <p:nvPicPr>
          <p:cNvPr id="4" name="Imagen 3" descr="Texto&#10;&#10;El contenido generado por IA puede ser incorrecto.">
            <a:extLst>
              <a:ext uri="{FF2B5EF4-FFF2-40B4-BE49-F238E27FC236}">
                <a16:creationId xmlns:a16="http://schemas.microsoft.com/office/drawing/2014/main" id="{142EF522-F6BB-5A14-43E5-B9864F138080}"/>
              </a:ext>
            </a:extLst>
          </p:cNvPr>
          <p:cNvPicPr>
            <a:picLocks noChangeAspect="1"/>
          </p:cNvPicPr>
          <p:nvPr/>
        </p:nvPicPr>
        <p:blipFill>
          <a:blip r:embed="rId3"/>
          <a:stretch>
            <a:fillRect/>
          </a:stretch>
        </p:blipFill>
        <p:spPr>
          <a:xfrm>
            <a:off x="313151" y="1014299"/>
            <a:ext cx="5855919" cy="125165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Análisis topics</a:t>
            </a:r>
            <a:endParaRPr/>
          </a:p>
        </p:txBody>
      </p:sp>
      <p:pic>
        <p:nvPicPr>
          <p:cNvPr id="2" name="Imagen 1" descr="Gráfico, Gráfico de barras&#10;&#10;El contenido generado por IA puede ser incorrecto.">
            <a:extLst>
              <a:ext uri="{FF2B5EF4-FFF2-40B4-BE49-F238E27FC236}">
                <a16:creationId xmlns:a16="http://schemas.microsoft.com/office/drawing/2014/main" id="{C6C869F5-A4CC-3118-19DE-A513840AFE78}"/>
              </a:ext>
            </a:extLst>
          </p:cNvPr>
          <p:cNvPicPr>
            <a:picLocks noChangeAspect="1"/>
          </p:cNvPicPr>
          <p:nvPr/>
        </p:nvPicPr>
        <p:blipFill>
          <a:blip r:embed="rId3"/>
          <a:srcRect t="557" r="-22" b="209"/>
          <a:stretch>
            <a:fillRect/>
          </a:stretch>
        </p:blipFill>
        <p:spPr>
          <a:xfrm>
            <a:off x="3413342" y="371350"/>
            <a:ext cx="5419509" cy="2198321"/>
          </a:xfrm>
          <a:prstGeom prst="rect">
            <a:avLst/>
          </a:prstGeom>
        </p:spPr>
      </p:pic>
      <p:pic>
        <p:nvPicPr>
          <p:cNvPr id="3" name="Imagen 2" descr="Texto&#10;&#10;El contenido generado por IA puede ser incorrecto.">
            <a:extLst>
              <a:ext uri="{FF2B5EF4-FFF2-40B4-BE49-F238E27FC236}">
                <a16:creationId xmlns:a16="http://schemas.microsoft.com/office/drawing/2014/main" id="{61E797CA-1E11-42A2-AB8F-7BBA4CE23EB4}"/>
              </a:ext>
            </a:extLst>
          </p:cNvPr>
          <p:cNvPicPr>
            <a:picLocks noChangeAspect="1"/>
          </p:cNvPicPr>
          <p:nvPr/>
        </p:nvPicPr>
        <p:blipFill>
          <a:blip r:embed="rId4"/>
          <a:stretch>
            <a:fillRect/>
          </a:stretch>
        </p:blipFill>
        <p:spPr>
          <a:xfrm>
            <a:off x="4665096" y="2724933"/>
            <a:ext cx="4049170" cy="2198840"/>
          </a:xfrm>
          <a:prstGeom prst="rect">
            <a:avLst/>
          </a:prstGeom>
        </p:spPr>
      </p:pic>
      <p:sp>
        <p:nvSpPr>
          <p:cNvPr id="4" name="CuadroTexto 3">
            <a:extLst>
              <a:ext uri="{FF2B5EF4-FFF2-40B4-BE49-F238E27FC236}">
                <a16:creationId xmlns:a16="http://schemas.microsoft.com/office/drawing/2014/main" id="{46A978E0-21CB-E949-17A7-0CC20C4F28C3}"/>
              </a:ext>
            </a:extLst>
          </p:cNvPr>
          <p:cNvSpPr txBox="1"/>
          <p:nvPr/>
        </p:nvSpPr>
        <p:spPr>
          <a:xfrm>
            <a:off x="424623" y="2333372"/>
            <a:ext cx="4057220"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200"/>
              <a:t>Para extraer las temáticas ocultas realizamos un doble enfoque. El modelo tradicional NMF (Factorización de Matrices No Negativas) nos aportó una primera aproximación estadística de las palabras más frecuentes. Sin embargo, para capturar el contexto real, aplicamos el modelo avanzado </a:t>
            </a:r>
            <a:r>
              <a:rPr lang="es-ES" sz="1200" err="1"/>
              <a:t>BERTopic</a:t>
            </a:r>
            <a:r>
              <a:rPr lang="es-ES" sz="1200"/>
              <a:t> basado en </a:t>
            </a:r>
            <a:r>
              <a:rPr lang="es-ES" sz="1200" err="1"/>
              <a:t>embeddings</a:t>
            </a:r>
            <a:r>
              <a:rPr lang="es-ES" sz="1200"/>
              <a:t>. La comparación nos permitió validar que las quejas se concentran con total precisión en dos problemas operativos: la gestión y rigidez de las suscripciones (Tema 2, el foco más crítico) y retrasos o incidencias con cajas dañadas en el reparto logístico (Tema 5). Como contrapartida positiva, ambos modelos aíslan el canal de soporte por email como nuestra mayor fortaleza competitiva.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Conclusiones y Próximos pasos</a:t>
            </a:r>
            <a:endParaRPr/>
          </a:p>
        </p:txBody>
      </p:sp>
      <p:sp>
        <p:nvSpPr>
          <p:cNvPr id="79" name="Google Shape;79;p17"/>
          <p:cNvSpPr txBox="1">
            <a:spLocks noGrp="1"/>
          </p:cNvSpPr>
          <p:nvPr>
            <p:ph type="body" idx="1"/>
          </p:nvPr>
        </p:nvSpPr>
        <p:spPr>
          <a:xfrm>
            <a:off x="2317350" y="1152475"/>
            <a:ext cx="6515100" cy="9330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fontScale="70000" lnSpcReduction="20000"/>
          </a:bodyPr>
          <a:lstStyle/>
          <a:p>
            <a:pPr marL="0" indent="0">
              <a:lnSpc>
                <a:spcPct val="114999"/>
              </a:lnSpc>
              <a:spcAft>
                <a:spcPts val="1200"/>
              </a:spcAft>
              <a:buNone/>
            </a:pPr>
            <a:r>
              <a:rPr lang="en" sz="1200"/>
              <a:t>Para </a:t>
            </a:r>
            <a:r>
              <a:rPr lang="en" sz="1200" err="1"/>
              <a:t>trasladar</a:t>
            </a:r>
            <a:r>
              <a:rPr lang="en" sz="1200"/>
              <a:t> </a:t>
            </a:r>
            <a:r>
              <a:rPr lang="en" sz="1200" err="1"/>
              <a:t>estos</a:t>
            </a:r>
            <a:r>
              <a:rPr lang="en" sz="1200"/>
              <a:t> </a:t>
            </a:r>
            <a:r>
              <a:rPr lang="en" sz="1200" err="1"/>
              <a:t>resultados</a:t>
            </a:r>
            <a:r>
              <a:rPr lang="en" sz="1200"/>
              <a:t> al </a:t>
            </a:r>
            <a:r>
              <a:rPr lang="en" sz="1200" err="1"/>
              <a:t>negocio</a:t>
            </a:r>
            <a:r>
              <a:rPr lang="en" sz="1200"/>
              <a:t> de forma </a:t>
            </a:r>
            <a:r>
              <a:rPr lang="en" sz="1200" err="1"/>
              <a:t>accionable</a:t>
            </a:r>
            <a:r>
              <a:rPr lang="en" sz="1200"/>
              <a:t>, </a:t>
            </a:r>
            <a:r>
              <a:rPr lang="en" sz="1200" err="1"/>
              <a:t>hemos</a:t>
            </a:r>
            <a:r>
              <a:rPr lang="en" sz="1200"/>
              <a:t> cruzado </a:t>
            </a:r>
            <a:r>
              <a:rPr lang="en" sz="1200" err="1"/>
              <a:t>los</a:t>
            </a:r>
            <a:r>
              <a:rPr lang="en" sz="1200"/>
              <a:t> </a:t>
            </a:r>
            <a:r>
              <a:rPr lang="en" sz="1200" err="1"/>
              <a:t>datos</a:t>
            </a:r>
            <a:r>
              <a:rPr lang="en" sz="1200"/>
              <a:t> </a:t>
            </a:r>
            <a:r>
              <a:rPr lang="en" sz="1200" err="1"/>
              <a:t>mediante</a:t>
            </a:r>
            <a:r>
              <a:rPr lang="en" sz="1200"/>
              <a:t> dos </a:t>
            </a:r>
            <a:r>
              <a:rPr lang="en" sz="1200" err="1"/>
              <a:t>metodologías</a:t>
            </a:r>
            <a:r>
              <a:rPr lang="en" sz="1200"/>
              <a:t> </a:t>
            </a:r>
            <a:r>
              <a:rPr lang="en" sz="1200" err="1"/>
              <a:t>visuales</a:t>
            </a:r>
            <a:r>
              <a:rPr lang="en" sz="1200"/>
              <a:t> </a:t>
            </a:r>
            <a:r>
              <a:rPr lang="en" sz="1200" err="1"/>
              <a:t>complementarias</a:t>
            </a:r>
            <a:r>
              <a:rPr lang="en" sz="1200"/>
              <a:t>. Por un </a:t>
            </a:r>
            <a:r>
              <a:rPr lang="en" sz="1200" err="1"/>
              <a:t>lado</a:t>
            </a:r>
            <a:r>
              <a:rPr lang="en" sz="1200"/>
              <a:t>, la Nube de Palabras (</a:t>
            </a:r>
            <a:r>
              <a:rPr lang="en" sz="1200" err="1"/>
              <a:t>WordCloud</a:t>
            </a:r>
            <a:r>
              <a:rPr lang="en" sz="1200"/>
              <a:t>) de </a:t>
            </a:r>
            <a:r>
              <a:rPr lang="en" sz="1200" err="1"/>
              <a:t>reseñas</a:t>
            </a:r>
            <a:r>
              <a:rPr lang="en" sz="1200"/>
              <a:t> </a:t>
            </a:r>
            <a:r>
              <a:rPr lang="en" sz="1200" err="1"/>
              <a:t>negativas</a:t>
            </a:r>
            <a:r>
              <a:rPr lang="en" sz="1200"/>
              <a:t> </a:t>
            </a:r>
            <a:r>
              <a:rPr lang="en" sz="1200" err="1"/>
              <a:t>resalta</a:t>
            </a:r>
            <a:r>
              <a:rPr lang="en" sz="1200"/>
              <a:t> </a:t>
            </a:r>
            <a:r>
              <a:rPr lang="en" sz="1200" err="1"/>
              <a:t>visualmente</a:t>
            </a:r>
            <a:r>
              <a:rPr lang="en" sz="1200"/>
              <a:t> </a:t>
            </a:r>
            <a:r>
              <a:rPr lang="en" sz="1200" err="1"/>
              <a:t>los</a:t>
            </a:r>
            <a:r>
              <a:rPr lang="en" sz="1200"/>
              <a:t> </a:t>
            </a:r>
            <a:r>
              <a:rPr lang="en" sz="1200" err="1"/>
              <a:t>términos</a:t>
            </a:r>
            <a:r>
              <a:rPr lang="en" sz="1200"/>
              <a:t> de mayor </a:t>
            </a:r>
            <a:r>
              <a:rPr lang="en" sz="1200" err="1"/>
              <a:t>impacto</a:t>
            </a:r>
            <a:r>
              <a:rPr lang="en" sz="1200"/>
              <a:t> y </a:t>
            </a:r>
            <a:r>
              <a:rPr lang="en" sz="1200" err="1"/>
              <a:t>frustración</a:t>
            </a:r>
            <a:r>
              <a:rPr lang="en" sz="1200"/>
              <a:t> para el </a:t>
            </a:r>
            <a:r>
              <a:rPr lang="en" sz="1200" err="1"/>
              <a:t>usuario</a:t>
            </a:r>
            <a:r>
              <a:rPr lang="en" sz="1200"/>
              <a:t>, </a:t>
            </a:r>
            <a:r>
              <a:rPr lang="en" sz="1200" err="1"/>
              <a:t>como</a:t>
            </a:r>
            <a:r>
              <a:rPr lang="en" sz="1200"/>
              <a:t> la </a:t>
            </a:r>
            <a:r>
              <a:rPr lang="en" sz="1200" err="1"/>
              <a:t>gestión</a:t>
            </a:r>
            <a:r>
              <a:rPr lang="en" sz="1200"/>
              <a:t> de </a:t>
            </a:r>
            <a:r>
              <a:rPr lang="en" sz="1200" err="1"/>
              <a:t>pagos</a:t>
            </a:r>
            <a:r>
              <a:rPr lang="en" sz="1200"/>
              <a:t> y </a:t>
            </a:r>
            <a:r>
              <a:rPr lang="en" sz="1200" err="1"/>
              <a:t>cancelaciones</a:t>
            </a:r>
            <a:r>
              <a:rPr lang="en" sz="1200"/>
              <a:t>. Por </a:t>
            </a:r>
            <a:r>
              <a:rPr lang="en" sz="1200" err="1"/>
              <a:t>otro</a:t>
            </a:r>
            <a:r>
              <a:rPr lang="en" sz="1200"/>
              <a:t> </a:t>
            </a:r>
            <a:r>
              <a:rPr lang="en" sz="1200" err="1"/>
              <a:t>lado</a:t>
            </a:r>
            <a:r>
              <a:rPr lang="en" sz="1200"/>
              <a:t>, el </a:t>
            </a:r>
            <a:r>
              <a:rPr lang="en" sz="1200" err="1"/>
              <a:t>gráfico</a:t>
            </a:r>
            <a:r>
              <a:rPr lang="en" sz="1200"/>
              <a:t> de barras </a:t>
            </a:r>
            <a:r>
              <a:rPr lang="en" sz="1200" err="1"/>
              <a:t>horizontales</a:t>
            </a:r>
            <a:r>
              <a:rPr lang="en" sz="1200"/>
              <a:t> </a:t>
            </a:r>
            <a:r>
              <a:rPr lang="en" sz="1200" err="1"/>
              <a:t>distribuye</a:t>
            </a:r>
            <a:r>
              <a:rPr lang="en" sz="1200"/>
              <a:t> el </a:t>
            </a:r>
            <a:r>
              <a:rPr lang="en" sz="1200" err="1"/>
              <a:t>sentimiento</a:t>
            </a:r>
            <a:r>
              <a:rPr lang="en" sz="1200"/>
              <a:t> </a:t>
            </a:r>
            <a:r>
              <a:rPr lang="en" sz="1200" err="1"/>
              <a:t>exacto</a:t>
            </a:r>
            <a:r>
              <a:rPr lang="en" sz="1200"/>
              <a:t> </a:t>
            </a:r>
            <a:r>
              <a:rPr lang="en" sz="1200" err="1"/>
              <a:t>por</a:t>
            </a:r>
            <a:r>
              <a:rPr lang="en" sz="1200"/>
              <a:t> </a:t>
            </a:r>
            <a:r>
              <a:rPr lang="en" sz="1200" err="1"/>
              <a:t>clúster</a:t>
            </a:r>
            <a:r>
              <a:rPr lang="en" sz="1200"/>
              <a:t>, </a:t>
            </a:r>
            <a:r>
              <a:rPr lang="en" sz="1200" err="1"/>
              <a:t>confirmando</a:t>
            </a:r>
            <a:r>
              <a:rPr lang="en" sz="1200"/>
              <a:t> </a:t>
            </a:r>
            <a:r>
              <a:rPr lang="en" sz="1200" err="1"/>
              <a:t>que</a:t>
            </a:r>
            <a:r>
              <a:rPr lang="en" sz="1200"/>
              <a:t> </a:t>
            </a:r>
            <a:r>
              <a:rPr lang="en" sz="1200" err="1"/>
              <a:t>mientras</a:t>
            </a:r>
            <a:r>
              <a:rPr lang="en" sz="1200"/>
              <a:t> el </a:t>
            </a:r>
            <a:r>
              <a:rPr lang="en" sz="1200" err="1"/>
              <a:t>producto</a:t>
            </a:r>
            <a:r>
              <a:rPr lang="en" sz="1200"/>
              <a:t> y el </a:t>
            </a:r>
            <a:r>
              <a:rPr lang="en" sz="1200" err="1"/>
              <a:t>soporte</a:t>
            </a:r>
            <a:r>
              <a:rPr lang="en" sz="1200"/>
              <a:t> </a:t>
            </a:r>
            <a:r>
              <a:rPr lang="en" sz="1200" err="1"/>
              <a:t>humano</a:t>
            </a:r>
            <a:r>
              <a:rPr lang="en" sz="1200"/>
              <a:t> </a:t>
            </a:r>
            <a:r>
              <a:rPr lang="en" sz="1200" err="1"/>
              <a:t>destacan</a:t>
            </a:r>
            <a:r>
              <a:rPr lang="en" sz="1200"/>
              <a:t> </a:t>
            </a:r>
            <a:r>
              <a:rPr lang="en" sz="1200" err="1"/>
              <a:t>en</a:t>
            </a:r>
            <a:r>
              <a:rPr lang="en" sz="1200"/>
              <a:t> </a:t>
            </a:r>
            <a:r>
              <a:rPr lang="en" sz="1200" err="1"/>
              <a:t>verde</a:t>
            </a:r>
            <a:r>
              <a:rPr lang="en" sz="1200"/>
              <a:t>, la </a:t>
            </a:r>
            <a:r>
              <a:rPr lang="en" sz="1200" err="1"/>
              <a:t>experiencia</a:t>
            </a:r>
            <a:r>
              <a:rPr lang="en" sz="1200"/>
              <a:t> digital </a:t>
            </a:r>
            <a:r>
              <a:rPr lang="en" sz="1200" err="1"/>
              <a:t>en</a:t>
            </a:r>
            <a:r>
              <a:rPr lang="en" sz="1200"/>
              <a:t> la app se </a:t>
            </a:r>
            <a:r>
              <a:rPr lang="en" sz="1200" err="1"/>
              <a:t>tiñe</a:t>
            </a:r>
            <a:r>
              <a:rPr lang="en" sz="1200"/>
              <a:t> de rojo.</a:t>
            </a:r>
            <a:endParaRPr lang="es-ES"/>
          </a:p>
        </p:txBody>
      </p:sp>
      <p:sp>
        <p:nvSpPr>
          <p:cNvPr id="80" name="Google Shape;80;p17"/>
          <p:cNvSpPr/>
          <p:nvPr/>
        </p:nvSpPr>
        <p:spPr>
          <a:xfrm>
            <a:off x="387850" y="1152500"/>
            <a:ext cx="1835100" cy="9330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Conclusiones</a:t>
            </a:r>
            <a:endParaRPr>
              <a:solidFill>
                <a:schemeClr val="lt1"/>
              </a:solidFill>
            </a:endParaRPr>
          </a:p>
        </p:txBody>
      </p:sp>
      <p:sp>
        <p:nvSpPr>
          <p:cNvPr id="81" name="Google Shape;81;p17"/>
          <p:cNvSpPr/>
          <p:nvPr/>
        </p:nvSpPr>
        <p:spPr>
          <a:xfrm>
            <a:off x="387850" y="2221250"/>
            <a:ext cx="1835100" cy="23475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Próximos pasos</a:t>
            </a:r>
            <a:endParaRPr>
              <a:solidFill>
                <a:schemeClr val="lt1"/>
              </a:solidFill>
            </a:endParaRPr>
          </a:p>
        </p:txBody>
      </p:sp>
      <p:sp>
        <p:nvSpPr>
          <p:cNvPr id="82" name="Google Shape;82;p17"/>
          <p:cNvSpPr txBox="1">
            <a:spLocks noGrp="1"/>
          </p:cNvSpPr>
          <p:nvPr>
            <p:ph type="body" idx="1"/>
          </p:nvPr>
        </p:nvSpPr>
        <p:spPr>
          <a:xfrm>
            <a:off x="2317350" y="2220225"/>
            <a:ext cx="6515100" cy="23475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rmAutofit/>
          </a:bodyPr>
          <a:lstStyle/>
          <a:p>
            <a:pPr marL="0" indent="0">
              <a:lnSpc>
                <a:spcPct val="114999"/>
              </a:lnSpc>
              <a:buNone/>
            </a:pPr>
            <a:r>
              <a:rPr lang="en" sz="1200"/>
              <a:t>La </a:t>
            </a:r>
            <a:r>
              <a:rPr lang="en" sz="1200" err="1"/>
              <a:t>estrategia</a:t>
            </a:r>
            <a:r>
              <a:rPr lang="en" sz="1200"/>
              <a:t> </a:t>
            </a:r>
            <a:r>
              <a:rPr lang="en" sz="1200" err="1"/>
              <a:t>inmediata</a:t>
            </a:r>
            <a:r>
              <a:rPr lang="en" sz="1200"/>
              <a:t> para la </a:t>
            </a:r>
            <a:r>
              <a:rPr lang="en" sz="1200" err="1"/>
              <a:t>Dirección</a:t>
            </a:r>
            <a:r>
              <a:rPr lang="en" sz="1200"/>
              <a:t> de CX </a:t>
            </a:r>
            <a:r>
              <a:rPr lang="en" sz="1200" err="1"/>
              <a:t>debe</a:t>
            </a:r>
            <a:r>
              <a:rPr lang="en" sz="1200"/>
              <a:t> </a:t>
            </a:r>
            <a:r>
              <a:rPr lang="en" sz="1200" err="1"/>
              <a:t>priorizar</a:t>
            </a:r>
            <a:r>
              <a:rPr lang="en" sz="1200"/>
              <a:t> el </a:t>
            </a:r>
            <a:r>
              <a:rPr lang="en" sz="1200" err="1"/>
              <a:t>rediseño</a:t>
            </a:r>
            <a:r>
              <a:rPr lang="en" sz="1200"/>
              <a:t> del </a:t>
            </a:r>
            <a:r>
              <a:rPr lang="en" sz="1200" err="1"/>
              <a:t>flujo</a:t>
            </a:r>
            <a:r>
              <a:rPr lang="en" sz="1200"/>
              <a:t> de </a:t>
            </a:r>
            <a:r>
              <a:rPr lang="en" sz="1200" err="1"/>
              <a:t>usuario</a:t>
            </a:r>
            <a:r>
              <a:rPr lang="en" sz="1200"/>
              <a:t> para la </a:t>
            </a:r>
            <a:r>
              <a:rPr lang="en" sz="1200" err="1"/>
              <a:t>modificación</a:t>
            </a:r>
            <a:r>
              <a:rPr lang="en" sz="1200"/>
              <a:t> de </a:t>
            </a:r>
            <a:r>
              <a:rPr lang="en" sz="1200" err="1"/>
              <a:t>suscripciones</a:t>
            </a:r>
            <a:r>
              <a:rPr lang="en" sz="1200"/>
              <a:t> </a:t>
            </a:r>
            <a:r>
              <a:rPr lang="en" sz="1200" err="1"/>
              <a:t>en</a:t>
            </a:r>
            <a:r>
              <a:rPr lang="en" sz="1200"/>
              <a:t> la </a:t>
            </a:r>
            <a:r>
              <a:rPr lang="en" sz="1200" err="1"/>
              <a:t>aplicación</a:t>
            </a:r>
            <a:r>
              <a:rPr lang="en" sz="1200"/>
              <a:t> </a:t>
            </a:r>
            <a:r>
              <a:rPr lang="en" sz="1200" err="1"/>
              <a:t>móvil</a:t>
            </a:r>
            <a:r>
              <a:rPr lang="en" sz="1200"/>
              <a:t> y </a:t>
            </a:r>
            <a:r>
              <a:rPr lang="en" sz="1200" err="1"/>
              <a:t>auditar</a:t>
            </a:r>
            <a:r>
              <a:rPr lang="en" sz="1200"/>
              <a:t> </a:t>
            </a:r>
            <a:r>
              <a:rPr lang="en" sz="1200" err="1"/>
              <a:t>los</a:t>
            </a:r>
            <a:r>
              <a:rPr lang="en" sz="1200"/>
              <a:t> </a:t>
            </a:r>
            <a:r>
              <a:rPr lang="en" sz="1200" err="1"/>
              <a:t>estándares</a:t>
            </a:r>
            <a:r>
              <a:rPr lang="en" sz="1200"/>
              <a:t> del </a:t>
            </a:r>
            <a:r>
              <a:rPr lang="en" sz="1200" err="1"/>
              <a:t>proveedor</a:t>
            </a:r>
            <a:r>
              <a:rPr lang="en" sz="1200"/>
              <a:t> </a:t>
            </a:r>
            <a:r>
              <a:rPr lang="en" sz="1200" err="1"/>
              <a:t>logístico</a:t>
            </a:r>
            <a:r>
              <a:rPr lang="en" sz="1200"/>
              <a:t>. Como </a:t>
            </a:r>
            <a:r>
              <a:rPr lang="en" sz="1200" err="1"/>
              <a:t>próximo</a:t>
            </a:r>
            <a:r>
              <a:rPr lang="en" sz="1200"/>
              <a:t> paso </a:t>
            </a:r>
            <a:r>
              <a:rPr lang="en" sz="1200" err="1"/>
              <a:t>como</a:t>
            </a:r>
            <a:r>
              <a:rPr lang="en" sz="1200"/>
              <a:t> Data Scientist, </a:t>
            </a:r>
            <a:r>
              <a:rPr lang="en" sz="1200" err="1"/>
              <a:t>propongo</a:t>
            </a:r>
            <a:r>
              <a:rPr lang="en" sz="1200"/>
              <a:t> </a:t>
            </a:r>
            <a:r>
              <a:rPr lang="en" sz="1200" err="1"/>
              <a:t>monitorizar</a:t>
            </a:r>
            <a:r>
              <a:rPr lang="en" sz="1200"/>
              <a:t> la </a:t>
            </a:r>
            <a:r>
              <a:rPr lang="en" sz="1200" err="1"/>
              <a:t>evolución</a:t>
            </a:r>
            <a:r>
              <a:rPr lang="en" sz="1200"/>
              <a:t> del </a:t>
            </a:r>
            <a:r>
              <a:rPr lang="en" sz="1200" err="1"/>
              <a:t>sentimiento</a:t>
            </a:r>
            <a:r>
              <a:rPr lang="en" sz="1200"/>
              <a:t> el </a:t>
            </a:r>
            <a:r>
              <a:rPr lang="en" sz="1200" err="1"/>
              <a:t>próximo</a:t>
            </a:r>
            <a:r>
              <a:rPr lang="en" sz="1200"/>
              <a:t> </a:t>
            </a:r>
            <a:r>
              <a:rPr lang="en" sz="1200" err="1"/>
              <a:t>trimestre</a:t>
            </a:r>
            <a:r>
              <a:rPr lang="en" sz="1200"/>
              <a:t> </a:t>
            </a:r>
            <a:r>
              <a:rPr lang="en" sz="1200" err="1"/>
              <a:t>mediante</a:t>
            </a:r>
            <a:r>
              <a:rPr lang="en" sz="1200"/>
              <a:t> </a:t>
            </a:r>
            <a:r>
              <a:rPr lang="en" sz="1200" err="1"/>
              <a:t>este</a:t>
            </a:r>
            <a:r>
              <a:rPr lang="en" sz="1200"/>
              <a:t> </a:t>
            </a:r>
            <a:r>
              <a:rPr lang="en" sz="1200" err="1"/>
              <a:t>mismo</a:t>
            </a:r>
            <a:r>
              <a:rPr lang="en" sz="1200"/>
              <a:t> pipeline para </a:t>
            </a:r>
            <a:r>
              <a:rPr lang="en" sz="1200" err="1"/>
              <a:t>medir</a:t>
            </a:r>
            <a:r>
              <a:rPr lang="en" sz="1200"/>
              <a:t> el </a:t>
            </a:r>
            <a:r>
              <a:rPr lang="en" sz="1200" err="1"/>
              <a:t>impacto</a:t>
            </a:r>
            <a:r>
              <a:rPr lang="en" sz="1200"/>
              <a:t> real de las </a:t>
            </a:r>
            <a:r>
              <a:rPr lang="en" sz="1200" err="1"/>
              <a:t>mejoras</a:t>
            </a:r>
            <a:r>
              <a:rPr lang="en" sz="1200"/>
              <a:t> </a:t>
            </a:r>
            <a:r>
              <a:rPr lang="en" sz="1200" err="1"/>
              <a:t>implementadas</a:t>
            </a:r>
            <a:r>
              <a:rPr lang="en" sz="1200"/>
              <a:t>.</a:t>
            </a:r>
            <a:endParaRPr lang="es-ES"/>
          </a:p>
          <a:p>
            <a:pPr marL="0" lvl="0" indent="0" algn="l" rtl="0">
              <a:spcBef>
                <a:spcPts val="1200"/>
              </a:spcBef>
              <a:spcAft>
                <a:spcPts val="1200"/>
              </a:spcAft>
              <a:buNone/>
            </a:pPr>
            <a:r>
              <a:rPr lang="en" sz="1200"/>
              <a:t>…</a:t>
            </a:r>
            <a:endParaRPr sz="12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Presentación en pantalla (16:9)</PresentationFormat>
  <Slides>5</Slides>
  <Notes>5</Notes>
  <HiddenSlides>0</HiddenSlides>
  <ScaleCrop>false</ScaleCrop>
  <HeadingPairs>
    <vt:vector size="4" baseType="variant">
      <vt:variant>
        <vt:lpstr>Tema</vt:lpstr>
      </vt:variant>
      <vt:variant>
        <vt:i4>1</vt:i4>
      </vt:variant>
      <vt:variant>
        <vt:lpstr>Títulos de diapositiva</vt:lpstr>
      </vt:variant>
      <vt:variant>
        <vt:i4>5</vt:i4>
      </vt:variant>
    </vt:vector>
  </HeadingPairs>
  <TitlesOfParts>
    <vt:vector size="6" baseType="lpstr">
      <vt:lpstr>Simple Light</vt:lpstr>
      <vt:lpstr>Análisis de reseñas en Trust Pilot </vt:lpstr>
      <vt:lpstr>Objetivos</vt:lpstr>
      <vt:lpstr>Análisis sentimiento</vt:lpstr>
      <vt:lpstr>Análisis topics</vt:lpstr>
      <vt:lpstr>Conclusiones y Próximos pasos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modified xsi:type="dcterms:W3CDTF">2026-06-22T17:55:16Z</dcterms:modified>
</cp:coreProperties>
</file>